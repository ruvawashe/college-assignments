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fi Tanganyika" userId="27b827de-111a-478c-afd7-bf1520e42d0d" providerId="ADAL" clId="{64B04D8B-7024-4B0A-86C0-F6B3EB936388}"/>
    <pc:docChg chg="modSld">
      <pc:chgData name="Steffi Tanganyika" userId="27b827de-111a-478c-afd7-bf1520e42d0d" providerId="ADAL" clId="{64B04D8B-7024-4B0A-86C0-F6B3EB936388}" dt="2026-05-29T18:43:30.100" v="1" actId="1076"/>
      <pc:docMkLst>
        <pc:docMk/>
      </pc:docMkLst>
      <pc:sldChg chg="modSp mod">
        <pc:chgData name="Steffi Tanganyika" userId="27b827de-111a-478c-afd7-bf1520e42d0d" providerId="ADAL" clId="{64B04D8B-7024-4B0A-86C0-F6B3EB936388}" dt="2026-05-29T18:43:30.100" v="1" actId="1076"/>
        <pc:sldMkLst>
          <pc:docMk/>
          <pc:sldMk cId="0" sldId="256"/>
        </pc:sldMkLst>
        <pc:spChg chg="mod">
          <ac:chgData name="Steffi Tanganyika" userId="27b827de-111a-478c-afd7-bf1520e42d0d" providerId="ADAL" clId="{64B04D8B-7024-4B0A-86C0-F6B3EB936388}" dt="2026-05-29T18:43:30.100" v="1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852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24057" y="541606"/>
            <a:ext cx="590843" cy="791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CYBERSECURITY AWARENESS BOT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</a:rPr>
              <a:t>Part 2 — GUI, OOP Design, Sentiment Detection &amp; Memory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315468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41E3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FF"/>
                </a:solidFill>
              </a:rPr>
              <a:t>STUDENT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" y="3401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ST10496771 – Tanganyika 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315468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41E3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3200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FF"/>
                </a:solidFill>
              </a:rPr>
              <a:t>FRAMEWORK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49040" y="3401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C#  •  .NET 8  •  WinForms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315468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41E3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FF"/>
                </a:solidFill>
              </a:rPr>
              <a:t>MODULE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0" y="3401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PROG6221  —  POE Part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AACB"/>
                </a:solidFill>
              </a:rPr>
              <a:t>POE Part 2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OOP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6AACB"/>
                </a:solidFill>
              </a:rPr>
              <a:t>5 classes with clean separation of concerns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658368"/>
          </a:xfrm>
          <a:prstGeom prst="rect">
            <a:avLst/>
          </a:prstGeom>
          <a:solidFill>
            <a:srgbClr val="141E3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64592" cy="6583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ChatbotEngine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2646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Core logic, routing, sentiment, memory management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8412480" cy="658368"/>
          </a:xfrm>
          <a:prstGeom prst="rect">
            <a:avLst/>
          </a:prstGeom>
          <a:solidFill>
            <a:srgbClr val="141E3C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164592" cy="65836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CB4"/>
                </a:solidFill>
              </a:rPr>
              <a:t>UserMemory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Stores name, favourite topic, discussed interests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8412480" cy="658368"/>
          </a:xfrm>
          <a:prstGeom prst="rect">
            <a:avLst/>
          </a:prstGeom>
          <a:solidFill>
            <a:srgbClr val="141E3C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164592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7066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47"/>
                </a:solidFill>
              </a:rPr>
              <a:t>ResponseEntry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6265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Encapsulates a topic's keywords + response variants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8412480" cy="658368"/>
          </a:xfrm>
          <a:prstGeom prst="rect">
            <a:avLst/>
          </a:prstGeom>
          <a:solidFill>
            <a:srgbClr val="141E3C"/>
          </a:solidFill>
          <a:ln w="12700">
            <a:solidFill>
              <a:srgbClr val="FF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164592" cy="658368"/>
          </a:xfrm>
          <a:prstGeom prst="rect">
            <a:avLst/>
          </a:prstGeom>
          <a:solidFill>
            <a:srgbClr val="FF6680"/>
          </a:solidFill>
          <a:ln w="12700">
            <a:solidFill>
              <a:srgbClr val="FF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4747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680"/>
                </a:solidFill>
              </a:rPr>
              <a:t>Sentiment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7307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Enum: Neutral / Worried / Curious / Frustrated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solidFill>
            <a:srgbClr val="141E3C"/>
          </a:solidFill>
          <a:ln w="12700">
            <a:solidFill>
              <a:srgbClr val="B48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87952"/>
            <a:ext cx="164592" cy="658368"/>
          </a:xfrm>
          <a:prstGeom prst="rect">
            <a:avLst/>
          </a:prstGeom>
          <a:solidFill>
            <a:srgbClr val="B48EFF"/>
          </a:solidFill>
          <a:ln w="12700">
            <a:solidFill>
              <a:srgbClr val="B48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242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8EFF"/>
                </a:solidFill>
              </a:rPr>
              <a:t>ChatForm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4988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WinForms UI, event handling, display formatting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AACB"/>
                </a:solidFill>
              </a:rPr>
              <a:t>Slide 2 of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 Design &amp; Entry Point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6AACB"/>
                </a:solidFill>
              </a:rPr>
              <a:t>ChatForm.cs  &amp;  Program.cs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3611880"/>
          </a:xfrm>
          <a:prstGeom prst="rect">
            <a:avLst/>
          </a:prstGeom>
          <a:solidFill>
            <a:srgbClr val="141E3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GUI COMPONENTS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Dark-themed WinForms window (900×700)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Header panel with CYBER ASCII art logo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RichTextBox chat display with coloured text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Input panel: TextBox + Send + Clear buttons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Quick-topic sidebar with 15 topic buttons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Status bar: active user + last topic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Centred name-entry overlay on startup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60520" cy="3611880"/>
          </a:xfrm>
          <a:prstGeom prst="rect">
            <a:avLst/>
          </a:prstGeom>
          <a:solidFill>
            <a:srgbClr val="141E3C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B4"/>
                </a:solidFill>
              </a:rPr>
              <a:t>STARTUP 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48132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428"/>
                </a:solidFill>
              </a:rPr>
              <a:t>Program.cs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14813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STAThread → Application.Run(new ChatForm())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121408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1214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428"/>
                </a:solidFill>
              </a:rPr>
              <a:t>ChatForm()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2121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Instantiates ChatbotEngine, calls ShowNamePanel()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761488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76148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428"/>
                </a:solidFill>
              </a:rPr>
              <a:t>Name Panel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27614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Prompts user name; validates not empty on Enter/click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401568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40156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428"/>
                </a:solidFill>
              </a:rPr>
              <a:t>BtnStart_Click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97880" y="3401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Stores name → SetUserName() → hides panel → PrintWelcome()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4041648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404164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428"/>
                </a:solidFill>
              </a:rPr>
              <a:t>PrintWelcome()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97880" y="40416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Renders ASCII art + initial greeting message in chat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AACB"/>
                </a:solidFill>
              </a:rPr>
              <a:t>Slide 3 of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Logic: Keyword Matching &amp; Random Responses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6AACB"/>
                </a:solidFill>
              </a:rPr>
              <a:t>ChatbotEngine.cs  →  GetResponse()  &amp;  BuildResponseTable()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804672"/>
          </a:xfrm>
          <a:prstGeom prst="rect">
            <a:avLst/>
          </a:prstGeom>
          <a:solidFill>
            <a:srgbClr val="141E3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GetResponse(string rawInput)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1. Normalise input (lowercase, trim)   2. Classify sentiment   3. Build empathy prefix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4. Check follow-up phrases   5. Check memory/interest phrases   6. Iterate ResponseEntry list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7. Return matched response + memory personalisation suffix   8. Default response if no match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023360" cy="2697480"/>
          </a:xfrm>
          <a:prstGeom prst="rect">
            <a:avLst/>
          </a:prstGeom>
          <a:solidFill>
            <a:srgbClr val="141E3C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47"/>
                </a:solidFill>
              </a:rPr>
              <a:t>ResponseEntry Class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TopicLabel  — display name of the topic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Keywords[]  — trigger words for matching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Responses[] — one or more reply strings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IsRandom    — true = pick randomly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1330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6AACB"/>
                </a:solidFill>
              </a:rPr>
              <a:t>20+ topics defined in BuildResponseTable()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4251960" cy="2697480"/>
          </a:xfrm>
          <a:prstGeom prst="rect">
            <a:avLst/>
          </a:prstGeom>
          <a:solidFill>
            <a:srgbClr val="141E3C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9751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B4"/>
                </a:solidFill>
              </a:rPr>
              <a:t>Topics with Random Responses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304288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Phishing — 4 random variants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Passwords — 3 random variants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Ransomware — 3 random variants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Online Scams — 2 random variants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VPN — 2 random variants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Privacy — 2 random variants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Safe Browsing — 2 random variants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Cybersecurity Tips — 2 random variants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AACB"/>
                </a:solidFill>
              </a:rPr>
              <a:t>Slide 4 of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Sentiment Detection &amp; Memory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6AACB"/>
                </a:solidFill>
              </a:rPr>
              <a:t>ClassifySentiment() / EmpathyPrefix()  &amp;  UserMemory class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32918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428"/>
                </a:solidFill>
              </a:rPr>
              <a:t>SENTIMENT 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8503920" cy="530352"/>
          </a:xfrm>
          <a:prstGeom prst="rect">
            <a:avLst/>
          </a:prstGeom>
          <a:solidFill>
            <a:srgbClr val="141E3C"/>
          </a:solidFill>
          <a:ln w="12700">
            <a:solidFill>
              <a:srgbClr val="20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109728" cy="530352"/>
          </a:xfrm>
          <a:prstGeom prst="rect">
            <a:avLst/>
          </a:prstGeom>
          <a:solidFill>
            <a:srgbClr val="FF6680"/>
          </a:solidFill>
          <a:ln w="12700">
            <a:solidFill>
              <a:srgbClr val="FF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44475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80"/>
                </a:solidFill>
              </a:rPr>
              <a:t>Worried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408176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"worried", "scared", "hacked", "stolen", "compromised", "attacked"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06440" y="14447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6AACB"/>
                </a:solidFill>
              </a:rPr>
              <a:t>Empathetic opener — 3 random variants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8503920" cy="530352"/>
          </a:xfrm>
          <a:prstGeom prst="rect">
            <a:avLst/>
          </a:prstGeom>
          <a:solidFill>
            <a:srgbClr val="111830"/>
          </a:solidFill>
          <a:ln w="12700">
            <a:solidFill>
              <a:srgbClr val="20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109728" cy="53035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CB4"/>
                </a:solidFill>
              </a:rPr>
              <a:t>Curious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1975104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"curious", "interested", "want to know", "what is", "explain"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06440" y="20116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6AACB"/>
                </a:solidFill>
              </a:rPr>
              <a:t>Encouraging opener — 3 random variants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8503920" cy="530352"/>
          </a:xfrm>
          <a:prstGeom prst="rect">
            <a:avLst/>
          </a:prstGeom>
          <a:solidFill>
            <a:srgbClr val="141E3C"/>
          </a:solidFill>
          <a:ln w="12700">
            <a:solidFill>
              <a:srgbClr val="20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487168"/>
            <a:ext cx="109728" cy="5303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57860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</a:rPr>
              <a:t>Frustrated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54203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"confused", "don't understand", "lost", "complicated", "too hard"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06440" y="257860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6AACB"/>
                </a:solidFill>
              </a:rPr>
              <a:t>Patient reassurance — 3 random variants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054096"/>
            <a:ext cx="8503920" cy="530352"/>
          </a:xfrm>
          <a:prstGeom prst="rect">
            <a:avLst/>
          </a:prstGeom>
          <a:solidFill>
            <a:srgbClr val="111830"/>
          </a:solidFill>
          <a:ln w="12700">
            <a:solidFill>
              <a:srgbClr val="20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054096"/>
            <a:ext cx="109728" cy="530352"/>
          </a:xfrm>
          <a:prstGeom prst="rect">
            <a:avLst/>
          </a:prstGeom>
          <a:solidFill>
            <a:srgbClr val="96AACB"/>
          </a:solidFill>
          <a:ln w="12700">
            <a:solidFill>
              <a:srgbClr val="96A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3145536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6AACB"/>
                </a:solidFill>
              </a:rPr>
              <a:t>Neutral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108960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No sentiment keywords detected in input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06440" y="314553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6AACB"/>
                </a:solidFill>
              </a:rPr>
              <a:t>No prefix added to the response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8503920" cy="914400"/>
          </a:xfrm>
          <a:prstGeom prst="rect">
            <a:avLst/>
          </a:prstGeom>
          <a:solidFill>
            <a:srgbClr val="141E3C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CB4"/>
                </a:solidFill>
              </a:rPr>
              <a:t>UserMemory Class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05993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Stores:  Name • FavouriteTopic • LastTopic • MentionedInterests[]     |   Commands:  'what do you remember' / 'what do you know about me'  →  RecallMemory()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Cross-topic hints: after 2+ topics discussed, occasionally suggests related topics the user hasn't asked about yet.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AACB"/>
                </a:solidFill>
              </a:rPr>
              <a:t>Slide 5 of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 Flow &amp; Error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6AACB"/>
                </a:solidFill>
              </a:rPr>
              <a:t>IsFollowUp() / HandleFollowUp()  &amp;  graceful defaults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2834640"/>
          </a:xfrm>
          <a:prstGeom prst="rect">
            <a:avLst/>
          </a:prstGeom>
          <a:solidFill>
            <a:srgbClr val="141E3C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B4"/>
                </a:solidFill>
              </a:rPr>
              <a:t>FOLLOW-UP PHRASES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"tell me more"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"give me another"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"more info"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"explain more"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"what else"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"more details"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"another tip"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"more tips"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"go on"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"continue"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365760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6AACB"/>
                </a:solidFill>
              </a:rPr>
              <a:t>→ Continues on last topic without user re-typing 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024128"/>
            <a:ext cx="4160520" cy="1325880"/>
          </a:xfrm>
          <a:prstGeom prst="rect">
            <a:avLst/>
          </a:prstGeom>
          <a:solidFill>
            <a:srgbClr val="141E3C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07899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47"/>
                </a:solidFill>
              </a:rPr>
              <a:t>ERROR HANDLING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Empty input → silently ignored (no crash)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Exit/quit/bye → farewell message, input disabled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Unknown input → helpful default with topic list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Empty name → MessageBox warning shown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4160520" cy="1389888"/>
          </a:xfrm>
          <a:prstGeom prst="rect">
            <a:avLst/>
          </a:prstGeom>
          <a:solidFill>
            <a:srgbClr val="141E3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52374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</a:rPr>
              <a:t>EXAMPLE INTERACTIONS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8529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DCB4"/>
                </a:solidFill>
              </a:rPr>
              <a:t>"I'm worried about phishing"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223760" y="285292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→ Empathy prefix + phishing tip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310896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DCB4"/>
                </a:solidFill>
              </a:rPr>
              <a:t>"tell me more"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23760" y="310896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→ Next random tip on last topic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33649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DCB4"/>
                </a:solidFill>
              </a:rPr>
              <a:t>"what do you remember"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223760" y="33649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→ Memory recall summary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362102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DCB4"/>
                </a:solidFill>
              </a:rPr>
              <a:t>"xyzabc"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23760" y="362102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→ Graceful default + suggestions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AACB"/>
                </a:solidFill>
              </a:rPr>
              <a:t>Slide 6 of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Additions vs Part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6AACB"/>
                </a:solidFill>
              </a:rPr>
              <a:t>What was upgraded and extended from the console chatbot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977640" cy="347472"/>
          </a:xfrm>
          <a:prstGeom prst="rect">
            <a:avLst/>
          </a:prstGeom>
          <a:solidFill>
            <a:srgbClr val="1A1A3C"/>
          </a:solidFill>
          <a:ln w="12700">
            <a:solidFill>
              <a:srgbClr val="96A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6AACB"/>
                </a:solidFill>
              </a:rPr>
              <a:t>PART 1 — Console App (.NET 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BCC"/>
                </a:solidFill>
              </a:rPr>
              <a:t>Single static class, no OOP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BCC"/>
                </a:solidFill>
              </a:rPr>
              <a:t>Console I/O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BCC"/>
                </a:solidFill>
              </a:rPr>
              <a:t>Basic keyword if/else chain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BCC"/>
                </a:solidFill>
              </a:rPr>
              <a:t>Text-to-speech greeting (System.Speech)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BCC"/>
                </a:solidFill>
              </a:rPr>
              <a:t>No sentiment awareness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BCC"/>
                </a:solidFill>
              </a:rPr>
              <a:t>No memory / no random responses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BCC"/>
                </a:solidFill>
              </a:rPr>
              <a:t>~50 keyword catchphrases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024128"/>
            <a:ext cx="4251960" cy="347472"/>
          </a:xfrm>
          <a:prstGeom prst="rect">
            <a:avLst/>
          </a:prstGeom>
          <a:solidFill>
            <a:srgbClr val="142050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02412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PART 2 — WinForms GUI (.NET 8)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426464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Full OOP: 5 classes + enum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Professional dark-themed GUI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ResponseEntry list with keyword arrays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Sentiment detection + empathetic prefixes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UserMemory: name, topics, interests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Random response variants per topic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Conversation flow (follow-up handling)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20+ topics, 15 quick-topic buttons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Status bar, Clear button, ASCII 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024128"/>
            <a:ext cx="0" cy="3520440"/>
          </a:xfrm>
          <a:prstGeom prst="line">
            <a:avLst/>
          </a:prstGeom>
          <a:noFill/>
          <a:ln w="12700">
            <a:solidFill>
              <a:srgbClr val="00C8FF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AACB"/>
                </a:solidFill>
              </a:rPr>
              <a:t>Slide 7 of 7  •  ST10496771 – Tanganyika 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On-screen Show (16:9)</PresentationFormat>
  <Paragraphs>143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Awareness Chatbot – Part 2 Code Breakdown</dc:title>
  <dc:subject>PptxGenJS Presentation</dc:subject>
  <dc:creator>ST10496771 – Tanganyika S</dc:creator>
  <cp:lastModifiedBy>Steffi Tanganyika</cp:lastModifiedBy>
  <cp:revision>1</cp:revision>
  <dcterms:created xsi:type="dcterms:W3CDTF">2026-05-29T18:38:13Z</dcterms:created>
  <dcterms:modified xsi:type="dcterms:W3CDTF">2026-05-29T18:43:35Z</dcterms:modified>
</cp:coreProperties>
</file>